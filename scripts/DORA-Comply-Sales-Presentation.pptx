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5266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0" y="16459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DORA Comply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0" y="2468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Third-Party Risk Management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EU Financial Institutions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0" y="3291840"/>
            <a:ext cx="2743200" cy="548640"/>
          </a:xfrm>
          <a:prstGeom prst="roundRect">
            <a:avLst>
              <a:gd name="adj" fmla="val 16667"/>
            </a:avLst>
          </a:prstGeom>
          <a:solidFill>
            <a:srgbClr val="111827"/>
          </a:solidFill>
          <a:ln w="254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3200400" y="329184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DORA Enforcement: January 17, 2025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0" y="43891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Compliance  |  Register of Information  |  Incident Reporting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1182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DORA Compliance Challenge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institutions face unprecedented regulatory pressure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53035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73152" cy="41148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640080" y="12801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vendor assessments take 40+ hours each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53035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73152" cy="41148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640080" y="17830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of Information requires 15 complex ESA templates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286000"/>
            <a:ext cx="53035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457200" y="2286000"/>
            <a:ext cx="73152" cy="41148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640080" y="228600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 reports due within 4 hours of detection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788920"/>
            <a:ext cx="53035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73152" cy="41148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visibility into 4th party (subcontractor) risks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53035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Shape 16"/>
          <p:cNvSpPr/>
          <p:nvPr/>
        </p:nvSpPr>
        <p:spPr>
          <a:xfrm>
            <a:off x="457200" y="3291840"/>
            <a:ext cx="73152" cy="41148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640080" y="32918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Concentration risk across critical ICT providers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0" y="1280160"/>
            <a:ext cx="2286000" cy="868680"/>
          </a:xfrm>
          <a:prstGeom prst="roundRect">
            <a:avLst>
              <a:gd name="adj" fmla="val 10526"/>
            </a:avLst>
          </a:prstGeom>
          <a:solidFill>
            <a:srgbClr val="11182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6400800" y="1371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250+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400800" y="17373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per vendor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manual compliance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400800" y="2286000"/>
            <a:ext cx="2286000" cy="868680"/>
          </a:xfrm>
          <a:prstGeom prst="roundRect">
            <a:avLst>
              <a:gd name="adj" fmla="val 10526"/>
            </a:avLst>
          </a:prstGeom>
          <a:solidFill>
            <a:srgbClr val="11182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6400800" y="2377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6400800" y="2743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ESA templates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mandatory for RoI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00800" y="3291840"/>
            <a:ext cx="2286000" cy="868680"/>
          </a:xfrm>
          <a:prstGeom prst="roundRect">
            <a:avLst>
              <a:gd name="adj" fmla="val 10526"/>
            </a:avLst>
          </a:prstGeom>
          <a:solidFill>
            <a:srgbClr val="11182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6400800" y="33832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4h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6400800" y="37490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Deadline for initial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 notification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1182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DORA Comply: Your Complete Solution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automation for DORA compliance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platform that automates vendor assessments, generates regulatory reports, and manages ICT incidents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2560320" cy="1828800"/>
          </a:xfrm>
          <a:prstGeom prst="roundRect">
            <a:avLst>
              <a:gd name="adj" fmla="val 7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1600200" y="1920240"/>
            <a:ext cx="822960" cy="82296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1600200" y="19202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Document Parsing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31089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SOC 2, ISO 27001 reports - AI extracts controls in 60 seconds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566160" y="1737360"/>
            <a:ext cx="2560320" cy="1828800"/>
          </a:xfrm>
          <a:prstGeom prst="roundRect">
            <a:avLst>
              <a:gd name="adj" fmla="val 7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4434840" y="1920240"/>
            <a:ext cx="822960" cy="82296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4434840" y="19202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65760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of Information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0" y="31089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Auto-generates all 15 ESA templates with one-click export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0" y="1737360"/>
            <a:ext cx="2560320" cy="1828800"/>
          </a:xfrm>
          <a:prstGeom prst="roundRect">
            <a:avLst>
              <a:gd name="adj" fmla="val 7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7269480" y="1920240"/>
            <a:ext cx="822960" cy="82296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7269480" y="19202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9224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 Reporting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92240" y="31089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Article 19 compliant with 4h/72h/1m deadline tracking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8229600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1097280" y="39776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98%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097280" y="4297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Reduction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931920" y="39776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60s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3931920" y="4297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Parsing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58000" y="39776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6858000" y="4297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ESA Compliance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1182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Document Analysis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AI extracts compliance data in seconds, not hours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Supported Document Types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 2 Type I/II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20240" y="1554480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1920240" y="155448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 27001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383280" y="1554480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3383280" y="155448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 22301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457200" y="1920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PCI DSS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920240" y="1920240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1920240" y="1920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Contracts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383280" y="1920240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3383280" y="1920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2468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852928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457200" y="285292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22960" y="283464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PDF document (drag and drop)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172968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457200" y="317296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960" y="315468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reads and understands document structure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493008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457200" y="349300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2960" y="347472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controls mapped to DORA articles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813048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/>
          <p:nvPr/>
        </p:nvSpPr>
        <p:spPr>
          <a:xfrm>
            <a:off x="457200" y="381304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22960" y="379476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Populates vendor profile automatically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133088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2" name="Text 30"/>
          <p:cNvSpPr/>
          <p:nvPr/>
        </p:nvSpPr>
        <p:spPr>
          <a:xfrm>
            <a:off x="457200" y="413308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22960" y="411480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Flags gaps and risks for review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29200" y="1188720"/>
            <a:ext cx="3657600" cy="2011680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5" name="Text 33"/>
          <p:cNvSpPr/>
          <p:nvPr/>
        </p:nvSpPr>
        <p:spPr>
          <a:xfrm>
            <a:off x="5212080" y="1325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Extracted Information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303520" y="16916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Control objectives and coverage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303520" y="19202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Audit opinion and exceptions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303520" y="21488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Certification validity dates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303520" y="23774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Subservice organizations (4th parties)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303520" y="26060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Complementary user controls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303520" y="28346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DORA Article 30 clause mapping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0" y="3383280"/>
            <a:ext cx="3657600" cy="914400"/>
          </a:xfrm>
          <a:prstGeom prst="roundRect">
            <a:avLst>
              <a:gd name="adj" fmla="val 1000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3" name="Text 41"/>
          <p:cNvSpPr/>
          <p:nvPr/>
        </p:nvSpPr>
        <p:spPr>
          <a:xfrm>
            <a:off x="5029200" y="35204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sec</a:t>
            </a:r>
            <a:endParaRPr lang="en-US" sz="3200" dirty="0"/>
          </a:p>
        </p:txBody>
      </p:sp>
      <p:sp>
        <p:nvSpPr>
          <p:cNvPr id="44" name="Text 42"/>
          <p:cNvSpPr/>
          <p:nvPr/>
        </p:nvSpPr>
        <p:spPr>
          <a:xfrm>
            <a:off x="5029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document processing time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1182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of Information (RoI)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15 ESA-mandated templates, auto-populated and export-ready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DORA Article 28(3) requires financial entities to maintain a complete Register of Information for all ICT third-party arrangements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457200" y="158191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RT.01.01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76479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Entity maintaining RoI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194560" y="150876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2194560" y="158191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RT.02.01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194560" y="176479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Contractual arrangements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931920" y="150876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3931920" y="158191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RT.02.02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931920" y="176479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 arrangements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669280" y="150876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5669280" y="158191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RT.02.03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669280" y="176479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Intragroup arrangements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406640" y="150876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7406640" y="158191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RT.03.01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06640" y="176479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ICT service providers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7200" y="210312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457200" y="217627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RT.03.02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235915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Entity reliance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194560" y="210312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23"/>
          <p:cNvSpPr/>
          <p:nvPr/>
        </p:nvSpPr>
        <p:spPr>
          <a:xfrm>
            <a:off x="2194560" y="217627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RT.03.03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194560" y="235915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branches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931920" y="210312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/>
          <p:nvPr/>
        </p:nvSpPr>
        <p:spPr>
          <a:xfrm>
            <a:off x="3931920" y="217627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RT.04.01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931920" y="235915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4th party providers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669280" y="210312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1" name="Text 29"/>
          <p:cNvSpPr/>
          <p:nvPr/>
        </p:nvSpPr>
        <p:spPr>
          <a:xfrm>
            <a:off x="5669280" y="217627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RT.05.01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669280" y="235915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Functions identification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406640" y="210312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4" name="Text 32"/>
          <p:cNvSpPr/>
          <p:nvPr/>
        </p:nvSpPr>
        <p:spPr>
          <a:xfrm>
            <a:off x="7406640" y="217627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RT.05.02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406640" y="235915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ICT services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57200" y="269748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Text 35"/>
          <p:cNvSpPr/>
          <p:nvPr/>
        </p:nvSpPr>
        <p:spPr>
          <a:xfrm>
            <a:off x="457200" y="277063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RT.06.01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57200" y="295351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risk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194560" y="269748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0" name="Text 38"/>
          <p:cNvSpPr/>
          <p:nvPr/>
        </p:nvSpPr>
        <p:spPr>
          <a:xfrm>
            <a:off x="2194560" y="277063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RT.07.01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194560" y="295351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Entity using services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931920" y="269748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3" name="Text 41"/>
          <p:cNvSpPr/>
          <p:nvPr/>
        </p:nvSpPr>
        <p:spPr>
          <a:xfrm>
            <a:off x="3931920" y="277063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RT.08.01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931920" y="295351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information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5669280" y="269748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6" name="Text 44"/>
          <p:cNvSpPr/>
          <p:nvPr/>
        </p:nvSpPr>
        <p:spPr>
          <a:xfrm>
            <a:off x="5669280" y="277063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RT.99.01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669280" y="295351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lists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7406640" y="269748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9" name="Text 47"/>
          <p:cNvSpPr/>
          <p:nvPr/>
        </p:nvSpPr>
        <p:spPr>
          <a:xfrm>
            <a:off x="7406640" y="277063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RT.99.02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406640" y="295351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Country codes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57200" y="3520440"/>
            <a:ext cx="2743200" cy="777240"/>
          </a:xfrm>
          <a:prstGeom prst="roundRect">
            <a:avLst>
              <a:gd name="adj" fmla="val 11765"/>
            </a:avLst>
          </a:prstGeom>
          <a:solidFill>
            <a:srgbClr val="11182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2" name="Text 50"/>
          <p:cNvSpPr/>
          <p:nvPr/>
        </p:nvSpPr>
        <p:spPr>
          <a:xfrm>
            <a:off x="594360" y="361188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Auto-Population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94360" y="38404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flows from vendor profiles to all 15 templates automatically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337560" y="3520440"/>
            <a:ext cx="2743200" cy="777240"/>
          </a:xfrm>
          <a:prstGeom prst="roundRect">
            <a:avLst>
              <a:gd name="adj" fmla="val 11765"/>
            </a:avLst>
          </a:prstGeom>
          <a:solidFill>
            <a:srgbClr val="11182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5" name="Text 53"/>
          <p:cNvSpPr/>
          <p:nvPr/>
        </p:nvSpPr>
        <p:spPr>
          <a:xfrm>
            <a:off x="3474720" y="361188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One-Click Export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3474720" y="38404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ESA-compliant CSV or Excel files for regulator submission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217920" y="3520440"/>
            <a:ext cx="2743200" cy="777240"/>
          </a:xfrm>
          <a:prstGeom prst="roundRect">
            <a:avLst>
              <a:gd name="adj" fmla="val 11765"/>
            </a:avLst>
          </a:prstGeom>
          <a:solidFill>
            <a:srgbClr val="11182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8" name="Text 56"/>
          <p:cNvSpPr/>
          <p:nvPr/>
        </p:nvSpPr>
        <p:spPr>
          <a:xfrm>
            <a:off x="6355080" y="361188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Engine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355080" y="38404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checks against ESA schema before export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1182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ICT Incident Reporting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Article 19 compliant with automated deadline tracking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DORA Reporting Deadlines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731520" cy="4572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63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457200" y="16002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4h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1600200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1371600" y="16002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notification to competent authority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731520" cy="4572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63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457200" y="21945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72h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280160" y="2194560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1371600" y="21945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Intermediate report with root cause analysis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788920"/>
            <a:ext cx="731520" cy="4572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63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457200" y="2788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1m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280160" y="2788920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1371600" y="27889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report with remediation actions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3429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Levels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79476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FEE2E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457200" y="37947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194560" y="379476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2194560" y="37947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31920" y="379476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3931920" y="37947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A8A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0" y="1188720"/>
            <a:ext cx="3200400" cy="68580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5623560" y="12801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Classification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23560" y="15361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suggests incident severity based on impact metrics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0" y="1965960"/>
            <a:ext cx="3200400" cy="68580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/>
          <p:nvPr/>
        </p:nvSpPr>
        <p:spPr>
          <a:xfrm>
            <a:off x="5623560" y="20574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Templates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623560" y="231343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Pre-built forms matching ESA requirements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86400" y="2743200"/>
            <a:ext cx="3200400" cy="68580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Text 30"/>
          <p:cNvSpPr/>
          <p:nvPr/>
        </p:nvSpPr>
        <p:spPr>
          <a:xfrm>
            <a:off x="5623560" y="283464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Deadline Alerts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623560" y="309067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notifications at critical milestones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486400" y="3611880"/>
            <a:ext cx="3200400" cy="731520"/>
          </a:xfrm>
          <a:prstGeom prst="roundRect">
            <a:avLst>
              <a:gd name="adj" fmla="val 12500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5" name="Text 33"/>
          <p:cNvSpPr/>
          <p:nvPr/>
        </p:nvSpPr>
        <p:spPr>
          <a:xfrm>
            <a:off x="5486400" y="3703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Article 19 Compliant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486400" y="40233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regulatory alignment guaranteed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1182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Third-Party Risk Management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visibility across your ICT supply chain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Management Capabilities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5303520" cy="347472"/>
          </a:xfrm>
          <a:prstGeom prst="roundRect">
            <a:avLst>
              <a:gd name="adj" fmla="val 13158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548640" y="1618488"/>
            <a:ext cx="219456" cy="21945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48640" y="161848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1554480"/>
            <a:ext cx="4800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vendor registry with risk tiering (Critical/Important/Standard)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965960"/>
            <a:ext cx="5303520" cy="347472"/>
          </a:xfrm>
          <a:prstGeom prst="roundRect">
            <a:avLst>
              <a:gd name="adj" fmla="val 13158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Shape 9"/>
          <p:cNvSpPr/>
          <p:nvPr/>
        </p:nvSpPr>
        <p:spPr>
          <a:xfrm>
            <a:off x="548640" y="2029968"/>
            <a:ext cx="219456" cy="21945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548640" y="20299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1965960"/>
            <a:ext cx="4800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4th party detection from SOC 2 subservice organizations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377440"/>
            <a:ext cx="5303520" cy="347472"/>
          </a:xfrm>
          <a:prstGeom prst="roundRect">
            <a:avLst>
              <a:gd name="adj" fmla="val 13158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5" name="Shape 13"/>
          <p:cNvSpPr/>
          <p:nvPr/>
        </p:nvSpPr>
        <p:spPr>
          <a:xfrm>
            <a:off x="548640" y="2441448"/>
            <a:ext cx="219456" cy="21945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548640" y="244144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" y="2377440"/>
            <a:ext cx="4800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management with exit strategy tracking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788920"/>
            <a:ext cx="5303520" cy="347472"/>
          </a:xfrm>
          <a:prstGeom prst="roundRect">
            <a:avLst>
              <a:gd name="adj" fmla="val 13158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9" name="Shape 17"/>
          <p:cNvSpPr/>
          <p:nvPr/>
        </p:nvSpPr>
        <p:spPr>
          <a:xfrm>
            <a:off x="548640" y="2852928"/>
            <a:ext cx="219456" cy="21945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548640" y="285292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68680" y="2788920"/>
            <a:ext cx="4800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Certification expiry monitoring and renewal alerts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200400"/>
            <a:ext cx="5303520" cy="347472"/>
          </a:xfrm>
          <a:prstGeom prst="roundRect">
            <a:avLst>
              <a:gd name="adj" fmla="val 13158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3" name="Shape 21"/>
          <p:cNvSpPr/>
          <p:nvPr/>
        </p:nvSpPr>
        <p:spPr>
          <a:xfrm>
            <a:off x="548640" y="3264408"/>
            <a:ext cx="219456" cy="21945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548640" y="326440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68680" y="3200400"/>
            <a:ext cx="4800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Cross-framework control mapping (DORA, SOC 2, ISO, NIST)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3611880"/>
            <a:ext cx="5303520" cy="347472"/>
          </a:xfrm>
          <a:prstGeom prst="roundRect">
            <a:avLst>
              <a:gd name="adj" fmla="val 13158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7" name="Shape 25"/>
          <p:cNvSpPr/>
          <p:nvPr/>
        </p:nvSpPr>
        <p:spPr>
          <a:xfrm>
            <a:off x="548640" y="3675888"/>
            <a:ext cx="219456" cy="21945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/>
          <p:nvPr/>
        </p:nvSpPr>
        <p:spPr>
          <a:xfrm>
            <a:off x="548640" y="367588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" y="3611880"/>
            <a:ext cx="4800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risk scoring with trend analysis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35040" y="1188720"/>
            <a:ext cx="2743200" cy="1645920"/>
          </a:xfrm>
          <a:prstGeom prst="roundRect">
            <a:avLst>
              <a:gd name="adj" fmla="val 5556"/>
            </a:avLst>
          </a:prstGeom>
          <a:solidFill>
            <a:srgbClr val="11182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1" name="Text 29"/>
          <p:cNvSpPr/>
          <p:nvPr/>
        </p:nvSpPr>
        <p:spPr>
          <a:xfrm>
            <a:off x="6172200" y="132588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Analytics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72200" y="1645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HHI concentration index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172200" y="19202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Geographic risk distribution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172200" y="21945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Single point of failure detection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172200" y="246888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Substitutability assessment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035040" y="3017520"/>
            <a:ext cx="2743200" cy="1005840"/>
          </a:xfrm>
          <a:prstGeom prst="roundRect">
            <a:avLst>
              <a:gd name="adj" fmla="val 9091"/>
            </a:avLst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Text 35"/>
          <p:cNvSpPr/>
          <p:nvPr/>
        </p:nvSpPr>
        <p:spPr>
          <a:xfrm>
            <a:off x="6172200" y="315468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Concentration Risk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172200" y="342900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162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alerts when vendor spend exceeds thresholds defined by your risk appetite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1182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DORA Comply?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Purpose-built for DORA vs. generic GRC platforms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2926077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801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DORA Comply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Generic GRC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Document Parsing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- 60s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ESA RoI Templates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4th Party Detection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Automatic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DORA Article Mapping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Native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Generic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Incident Timeline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4h/72h/1m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 to Value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solidFill>
            <a:srgbClr val="11182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457200" y="11887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743200" y="1188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DORA Comply</a:t>
            </a:r>
            <a:endParaRPr lang="en-US" sz="1000" dirty="0"/>
          </a:p>
        </p:txBody>
      </p:sp>
      <p:sp>
        <p:nvSpPr>
          <p:cNvPr id="5" name="Text 6"/>
          <p:cNvSpPr/>
          <p:nvPr/>
        </p:nvSpPr>
        <p:spPr>
          <a:xfrm>
            <a:off x="4754880" y="1188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GRC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766560" y="11887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0" y="42976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 on comparison with leading GRC platforms as of Q4 2024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0" y="12801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for DORA Compliance?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0" y="18288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your 14-day free trial today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286000" y="2286000"/>
            <a:ext cx="4572000" cy="457200"/>
          </a:xfrm>
          <a:prstGeom prst="roundRect">
            <a:avLst>
              <a:gd name="adj" fmla="val 16000"/>
            </a:avLst>
          </a:prstGeom>
          <a:solidFill>
            <a:srgbClr val="331111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2286000" y="22860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12 months until DORA enforcement - January 17, 2025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794760" y="2994660"/>
            <a:ext cx="1828800" cy="502920"/>
          </a:xfrm>
          <a:prstGeom prst="roundRect">
            <a:avLst>
              <a:gd name="adj" fmla="val 18182"/>
            </a:avLst>
          </a:prstGeom>
          <a:solidFill>
            <a:srgbClr val="111827"/>
          </a:solidFill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3794760" y="29946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 Demo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703320" y="372618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703320" y="39090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www.doracomply.eu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0" y="43891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DORA Comply - AI-Powered Compliance for EU Financial Institutions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2101</TotalTime>
  <Words>726</Words>
  <Application>Microsoft Office PowerPoint</Application>
  <PresentationFormat>Presentazione su schermo (16:9)</PresentationFormat>
  <Paragraphs>201</Paragraphs>
  <Slides>9</Slides>
  <Notes>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1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9</vt:i4>
      </vt:variant>
    </vt:vector>
  </HeadingPairs>
  <TitlesOfParts>
    <vt:vector size="11" baseType="lpstr">
      <vt:lpstr>Arial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DORA Comply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DORA Comply - Sales Presentation</dc:title>
  <dc:subject>AI-Powered Third-Party Risk Management</dc:subject>
  <dc:creator>DORA Comply</dc:creator>
  <cp:lastModifiedBy>Federico Sciuca</cp:lastModifiedBy>
  <cp:revision>3</cp:revision>
  <dcterms:created xsi:type="dcterms:W3CDTF">2026-01-15T15:24:40Z</dcterms:created>
  <dcterms:modified xsi:type="dcterms:W3CDTF">2026-01-17T06:29:13Z</dcterms:modified>
</cp:coreProperties>
</file>