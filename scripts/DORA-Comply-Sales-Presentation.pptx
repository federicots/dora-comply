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16459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 Comply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2468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Third-Party Risk Management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EU Financial Institutions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0" y="3291840"/>
            <a:ext cx="2743200" cy="548640"/>
          </a:xfrm>
          <a:prstGeom prst="roundRect">
            <a:avLst>
              <a:gd name="adj" fmla="val 16667"/>
            </a:avLst>
          </a:prstGeom>
          <a:solidFill>
            <a:srgbClr val="111827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0" y="32918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 Enforcement: January 17, 2025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0" y="4389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Compliance  |  Register of Information  |  Incident Reporting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DORA Compliance Challenge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institutions face unprecedented regulatory pressure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3035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73152" cy="4114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801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vendor assessments take 40+ hours each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3035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783080"/>
            <a:ext cx="73152" cy="4114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830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of Information requires 15 complex ESA templates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53035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286000"/>
            <a:ext cx="73152" cy="4114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2860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reports due within 4 hours of detection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53035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788920"/>
            <a:ext cx="73152" cy="4114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7889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visibility into 4th party (subcontractor) risks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53035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291840"/>
            <a:ext cx="73152" cy="4114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2918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risk across critical ICT providers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0" y="1280160"/>
            <a:ext cx="2286000" cy="868680"/>
          </a:xfrm>
          <a:prstGeom prst="roundRect">
            <a:avLst>
              <a:gd name="adj" fmla="val 10526"/>
            </a:avLst>
          </a:prstGeom>
          <a:solidFill>
            <a:srgbClr val="111827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1371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250+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400800" y="17373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per vendor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manual compliance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0" y="2286000"/>
            <a:ext cx="2286000" cy="868680"/>
          </a:xfrm>
          <a:prstGeom prst="roundRect">
            <a:avLst>
              <a:gd name="adj" fmla="val 10526"/>
            </a:avLst>
          </a:prstGeom>
          <a:solidFill>
            <a:srgbClr val="111827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2377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400800" y="2743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ESA templates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for RoI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00800" y="3291840"/>
            <a:ext cx="2286000" cy="868680"/>
          </a:xfrm>
          <a:prstGeom prst="roundRect">
            <a:avLst>
              <a:gd name="adj" fmla="val 10526"/>
            </a:avLst>
          </a:prstGeom>
          <a:solidFill>
            <a:srgbClr val="111827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33832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4h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400800" y="3749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Deadline for initial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notification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 Comply: Your Complete Solution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automation for DORA compliance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platform that automates vendor assessments, generates regulatory reports, and manages ICT incidents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00200" y="1920240"/>
            <a:ext cx="822960" cy="8229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Document Parsing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SOC 2, ISO 27001 reports - AI extracts controls in 60 seconds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66160" y="173736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4840" y="1920240"/>
            <a:ext cx="822960" cy="8229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443484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576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of Information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0" y="3108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Auto-generates all 15 ESA templates with one-click export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0" y="173736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69480" y="1920240"/>
            <a:ext cx="822960" cy="8229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8" name="Text 16"/>
          <p:cNvSpPr/>
          <p:nvPr/>
        </p:nvSpPr>
        <p:spPr>
          <a:xfrm>
            <a:off x="726948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9224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Reporting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92240" y="3108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 19 compliant with 4h/72h/1m deadline tracking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1371600" y="39776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37160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Reduction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114800" y="39776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11480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Parsing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58000" y="39776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685800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ESA Compliance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Document Analysis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AI extracts compliance data in seconds, not hours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Document Types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 2 Type I/II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20240" y="155448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20240" y="15544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27001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83280" y="155448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5544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22301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920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PCI DSS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920240" y="192024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20240" y="1920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Contracts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83280" y="1920240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0" y="19202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2468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852928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85292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22960" y="283464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PDF document (drag and drop)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172968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17296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315468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reads and understands document structure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493008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49300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2960" y="34747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controls mapped to DORA articles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813048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8130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22960" y="379476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Populates vendor profile automatically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133088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13308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2960" y="411480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 gaps and risks for review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0" y="1188720"/>
            <a:ext cx="3657600" cy="201168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12080" y="1325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Extracted Information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30352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Control objectives and coverage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303520" y="19202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 opinion and exceptions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303520" y="21488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Certification validity dates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303520" y="23774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Subservice organizations (4th parties)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303520" y="2606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Complementary user controls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03520" y="2834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DORA Article 30 clause mapping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0" y="3383280"/>
            <a:ext cx="3657600" cy="914400"/>
          </a:xfrm>
          <a:prstGeom prst="roundRect">
            <a:avLst>
              <a:gd name="adj" fmla="val 10000"/>
            </a:avLst>
          </a:prstGeom>
          <a:solidFill>
            <a:srgbClr val="059669"/>
          </a:solidFill>
          <a:ln/>
        </p:spPr>
      </p:sp>
      <p:sp>
        <p:nvSpPr>
          <p:cNvPr id="43" name="Text 41"/>
          <p:cNvSpPr/>
          <p:nvPr/>
        </p:nvSpPr>
        <p:spPr>
          <a:xfrm>
            <a:off x="5029200" y="3520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sec</a:t>
            </a:r>
            <a:endParaRPr lang="en-US" sz="3200" dirty="0"/>
          </a:p>
        </p:txBody>
      </p:sp>
      <p:sp>
        <p:nvSpPr>
          <p:cNvPr id="44" name="Text 42"/>
          <p:cNvSpPr/>
          <p:nvPr/>
        </p:nvSpPr>
        <p:spPr>
          <a:xfrm>
            <a:off x="5029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document processing time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of Information (RoI)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15 ESA-mandated templates, auto-populated and export-ready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 Article 28(3) requires financial entities to maintain a complete Register of Information for all ICT third-party arrangements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819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RT.01.01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76479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 maintaining RoI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194560" y="150876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15819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RT.02.01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194560" y="176479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Contractual arrangements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931920" y="150876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31920" y="15819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RT.02.02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931920" y="176479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 arrangements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669280" y="150876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15819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RT.02.03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669280" y="176479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Intragroup arrangements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406640" y="150876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06640" y="15819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RT.03.01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06640" y="176479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ICT service providers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7200" y="210312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17627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RT.03.02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235915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 reliance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194560" y="210312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94560" y="217627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RT.03.03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194560" y="235915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branches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931920" y="210312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31920" y="217627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RT.04.01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31920" y="235915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4th party providers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669280" y="210312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0" y="217627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RT.05.01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0" y="235915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identification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406640" y="210312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06640" y="217627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RT.05.02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406640" y="235915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ICT services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7200" y="269748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277063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RT.06.01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7200" y="29535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risk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194560" y="269748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94560" y="277063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RT.07.01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194560" y="29535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 using services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269748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31920" y="277063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RT.08.01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931920" y="29535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information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669280" y="269748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69280" y="277063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RT.99.01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669280" y="29535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lists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406640" y="269748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06640" y="277063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RT.99.02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406640" y="295351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Country codes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3520440"/>
            <a:ext cx="2743200" cy="777240"/>
          </a:xfrm>
          <a:prstGeom prst="roundRect">
            <a:avLst>
              <a:gd name="adj" fmla="val 11765"/>
            </a:avLst>
          </a:prstGeom>
          <a:solidFill>
            <a:srgbClr val="111827"/>
          </a:solidFill>
          <a:ln/>
        </p:spPr>
      </p:sp>
      <p:sp>
        <p:nvSpPr>
          <p:cNvPr id="52" name="Text 50"/>
          <p:cNvSpPr/>
          <p:nvPr/>
        </p:nvSpPr>
        <p:spPr>
          <a:xfrm>
            <a:off x="594360" y="36118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Auto-Population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94360" y="3840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flows from vendor profiles to all 15 templates automatically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337560" y="3520440"/>
            <a:ext cx="2743200" cy="777240"/>
          </a:xfrm>
          <a:prstGeom prst="roundRect">
            <a:avLst>
              <a:gd name="adj" fmla="val 11765"/>
            </a:avLst>
          </a:prstGeom>
          <a:solidFill>
            <a:srgbClr val="111827"/>
          </a:solidFill>
          <a:ln/>
        </p:spPr>
      </p:sp>
      <p:sp>
        <p:nvSpPr>
          <p:cNvPr id="55" name="Text 53"/>
          <p:cNvSpPr/>
          <p:nvPr/>
        </p:nvSpPr>
        <p:spPr>
          <a:xfrm>
            <a:off x="3474720" y="36118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Export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474720" y="3840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ESA-compliant CSV or Excel files for regulator submission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217920" y="3520440"/>
            <a:ext cx="2743200" cy="777240"/>
          </a:xfrm>
          <a:prstGeom prst="roundRect">
            <a:avLst>
              <a:gd name="adj" fmla="val 11765"/>
            </a:avLst>
          </a:prstGeom>
          <a:solidFill>
            <a:srgbClr val="111827"/>
          </a:solidFill>
          <a:ln/>
        </p:spPr>
      </p:sp>
      <p:sp>
        <p:nvSpPr>
          <p:cNvPr id="58" name="Text 56"/>
          <p:cNvSpPr/>
          <p:nvPr/>
        </p:nvSpPr>
        <p:spPr>
          <a:xfrm>
            <a:off x="6355080" y="361188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Engine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355080" y="3840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checks against ESA schema before export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ICT Incident Reporting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 19 compliant with automated deadline tracking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 Reporting Deadlines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002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160020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1600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notification to competent authority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1945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72h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280160" y="219456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21945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Intermediate report with root cause analysis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731520" cy="4572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788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280160" y="278892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600" y="27889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report with remediation actions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3429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Levels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7947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EE2E2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7947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194560" y="37947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/>
        </p:spPr>
      </p:sp>
      <p:sp>
        <p:nvSpPr>
          <p:cNvPr id="22" name="Text 20"/>
          <p:cNvSpPr/>
          <p:nvPr/>
        </p:nvSpPr>
        <p:spPr>
          <a:xfrm>
            <a:off x="2194560" y="37947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31920" y="37947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24" name="Text 22"/>
          <p:cNvSpPr/>
          <p:nvPr/>
        </p:nvSpPr>
        <p:spPr>
          <a:xfrm>
            <a:off x="3931920" y="37947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8A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0" y="1188720"/>
            <a:ext cx="3200400" cy="68580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23560" y="12801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Classification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23560" y="15361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suggests incident severity based on impact metrics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0" y="1965960"/>
            <a:ext cx="3200400" cy="68580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23560" y="20574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Templates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23560" y="231343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Pre-built forms matching ESA requirements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0" y="2743200"/>
            <a:ext cx="3200400" cy="68580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23560" y="28346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Deadline Alerts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623560" y="309067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notifications at critical milestones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0" y="361188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 19 Compliant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486400" y="40233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regulatory alignment guaranteed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Third-Party Risk Management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visibility across your ICT supply chain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Management Capabilities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5303520" cy="347472"/>
          </a:xfrm>
          <a:prstGeom prst="roundRect">
            <a:avLst>
              <a:gd name="adj" fmla="val 13158"/>
            </a:avLst>
          </a:prstGeom>
          <a:solidFill>
            <a:srgbClr val="F8FAFC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618488"/>
            <a:ext cx="219456" cy="21945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61848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1554480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vendor registry with risk tiering (Critical/Important/Standard)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965960"/>
            <a:ext cx="5303520" cy="347472"/>
          </a:xfrm>
          <a:prstGeom prst="roundRect">
            <a:avLst>
              <a:gd name="adj" fmla="val 13158"/>
            </a:avLst>
          </a:prstGeom>
          <a:solidFill>
            <a:srgbClr val="F8FAFC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029968"/>
            <a:ext cx="219456" cy="21945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0299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1965960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4th party detection from SOC 2 subservice organizations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377440"/>
            <a:ext cx="5303520" cy="347472"/>
          </a:xfrm>
          <a:prstGeom prst="roundRect">
            <a:avLst>
              <a:gd name="adj" fmla="val 13158"/>
            </a:avLst>
          </a:prstGeom>
          <a:solidFill>
            <a:srgbClr val="F8FAFC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441448"/>
            <a:ext cx="219456" cy="21945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44144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" y="2377440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management with exit strategy tracking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5303520" cy="347472"/>
          </a:xfrm>
          <a:prstGeom prst="roundRect">
            <a:avLst>
              <a:gd name="adj" fmla="val 13158"/>
            </a:avLst>
          </a:prstGeom>
          <a:solidFill>
            <a:srgbClr val="F8FAFC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2852928"/>
            <a:ext cx="219456" cy="21945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85292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" y="2788920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Certification expiry monitoring and renewal alerts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200400"/>
            <a:ext cx="5303520" cy="347472"/>
          </a:xfrm>
          <a:prstGeom prst="roundRect">
            <a:avLst>
              <a:gd name="adj" fmla="val 13158"/>
            </a:avLst>
          </a:prstGeom>
          <a:solidFill>
            <a:srgbClr val="F8FAFC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264408"/>
            <a:ext cx="219456" cy="21945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26440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68680" y="3200400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Cross-framework control mapping (DORA, SOC 2, ISO, NIST)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611880"/>
            <a:ext cx="5303520" cy="347472"/>
          </a:xfrm>
          <a:prstGeom prst="roundRect">
            <a:avLst>
              <a:gd name="adj" fmla="val 13158"/>
            </a:avLst>
          </a:prstGeom>
          <a:solidFill>
            <a:srgbClr val="F8FAFC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75888"/>
            <a:ext cx="219456" cy="21945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67588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" y="3611880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risk scoring with trend analysis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35040" y="118872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111827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3258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Analytics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1645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HHI concentration index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72200" y="1920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Geographic risk distribution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72200" y="21945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Single point of failure detection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172200" y="24688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Substitutability assessment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35040" y="3017520"/>
            <a:ext cx="2743200" cy="100584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72200" y="31546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Risk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172200" y="342900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62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alerts when vendor spend exceeds thresholds defined by your risk appetite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DORA Comply?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Purpose-built for DORA vs. generic GRC platforms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2926080"/>
        </p:xfrm>
        <a:graphic>
          <a:graphicData uri="http://schemas.openxmlformats.org/drawingml/2006/table">
            <a:tbl>
              <a:tblPr/>
              <a:tblGrid>
                <a:gridCol w="2286000"/>
                <a:gridCol w="2011680"/>
                <a:gridCol w="2011680"/>
                <a:gridCol w="1920240"/>
              </a:tblGrid>
              <a:tr h="418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DORA Comply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Generic GRC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Document Parsing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- 60s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ESA RoI Templates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4th Party Detection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Automatic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DORA Article Mapping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Native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Generic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Incident Timeline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4h/72h/1m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to Value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743200" y="1188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 Comply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754880" y="1188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GRC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766560" y="11887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0" y="42976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comparison with leading GRC platforms as of Q4 2024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Transparent Pricing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with your compliance needs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2651760" cy="31089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234440"/>
            <a:ext cx="2651760" cy="8229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15544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$499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1828800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/month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14884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Up to 25 vendors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0" y="240487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 AI document parses/mo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0" y="26609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Basic RoI export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0" y="291693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Incident tracking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14400" y="31729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Email support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14400" y="3977640"/>
            <a:ext cx="2286000" cy="320040"/>
          </a:xfrm>
          <a:prstGeom prst="roundRect">
            <a:avLst>
              <a:gd name="adj" fmla="val 22857"/>
            </a:avLst>
          </a:prstGeom>
          <a:solidFill>
            <a:srgbClr val="111827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9776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Free Trial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0" y="1234440"/>
            <a:ext cx="2651760" cy="31089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0" y="1234440"/>
            <a:ext cx="2651760" cy="8229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0" y="12801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657600" y="15544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$1,499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657600" y="1828800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/month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40480" y="214884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Up to 100 vendors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40480" y="240487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Unlimited AI parsing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840480" y="26609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 15-template RoI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40480" y="291693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4th party detection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840480" y="31729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Cross-framework mapping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840480" y="34290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Priority support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840480" y="3977640"/>
            <a:ext cx="2286000" cy="320040"/>
          </a:xfrm>
          <a:prstGeom prst="roundRect">
            <a:avLst>
              <a:gd name="adj" fmla="val 22857"/>
            </a:avLst>
          </a:prstGeom>
          <a:solidFill>
            <a:srgbClr val="059669"/>
          </a:solidFill>
          <a:ln/>
        </p:spPr>
      </p:sp>
      <p:sp>
        <p:nvSpPr>
          <p:cNvPr id="29" name="Text 27"/>
          <p:cNvSpPr/>
          <p:nvPr/>
        </p:nvSpPr>
        <p:spPr>
          <a:xfrm>
            <a:off x="3840480" y="39776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Popular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583680" y="1234440"/>
            <a:ext cx="2651760" cy="31089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83680" y="1234440"/>
            <a:ext cx="2651760" cy="8229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0" y="12801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583680" y="15544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6583680" y="1828800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us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766560" y="214884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Unlimited vendors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766560" y="240487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Unlimited AI parsing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766560" y="26609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Custom integrations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766560" y="291693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SSO / SAML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766560" y="31729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Dedicated CSM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766560" y="34290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On-premise option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766560" y="3977640"/>
            <a:ext cx="2286000" cy="320040"/>
          </a:xfrm>
          <a:prstGeom prst="roundRect">
            <a:avLst>
              <a:gd name="adj" fmla="val 22857"/>
            </a:avLst>
          </a:prstGeom>
          <a:solidFill>
            <a:srgbClr val="111827"/>
          </a:solidFill>
          <a:ln/>
        </p:spPr>
      </p:sp>
      <p:sp>
        <p:nvSpPr>
          <p:cNvPr id="42" name="Text 40"/>
          <p:cNvSpPr/>
          <p:nvPr/>
        </p:nvSpPr>
        <p:spPr>
          <a:xfrm>
            <a:off x="6766560" y="39776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Sales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12801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DORA Compliance?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0" y="18288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your 14-day free trial today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286000" y="2286000"/>
            <a:ext cx="4572000" cy="457200"/>
          </a:xfrm>
          <a:prstGeom prst="roundRect">
            <a:avLst>
              <a:gd name="adj" fmla="val 16000"/>
            </a:avLst>
          </a:prstGeom>
          <a:solidFill>
            <a:srgbClr val="331111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12 months until DORA enforcement - January 17, 2025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2926080"/>
            <a:ext cx="1828800" cy="502920"/>
          </a:xfrm>
          <a:prstGeom prst="roundRect">
            <a:avLst>
              <a:gd name="adj" fmla="val 18182"/>
            </a:avLst>
          </a:prstGeom>
          <a:solidFill>
            <a:srgbClr val="059669"/>
          </a:solidFill>
          <a:ln/>
        </p:spPr>
      </p:sp>
      <p:sp>
        <p:nvSpPr>
          <p:cNvPr id="8" name="Text 6"/>
          <p:cNvSpPr/>
          <p:nvPr/>
        </p:nvSpPr>
        <p:spPr>
          <a:xfrm>
            <a:off x="2560320" y="29260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Free Trial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2926080"/>
            <a:ext cx="1828800" cy="502920"/>
          </a:xfrm>
          <a:prstGeom prst="roundRect">
            <a:avLst>
              <a:gd name="adj" fmla="val 18182"/>
            </a:avLst>
          </a:prstGeom>
          <a:solidFill>
            <a:srgbClr val="111827"/>
          </a:solidFill>
          <a:ln w="25400">
            <a:solidFill>
              <a:srgbClr val="4755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29260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Demo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86000" y="36576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0" y="38404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sales@doracomply.eu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36576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46320" y="38404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www.doracomply.eu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0" y="43891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 Comply - AI-Powered Compliance for EU Financial Institutions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DORA Comply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DORA Comply - Sales Presentation</dc:title>
  <dc:subject>AI-Powered Third-Party Risk Management</dc:subject>
  <dc:creator>DORA Comply</dc:creator>
  <cp:lastModifiedBy>DORA Comply</cp:lastModifiedBy>
  <cp:revision>1</cp:revision>
  <dcterms:created xsi:type="dcterms:W3CDTF">2026-01-15T15:24:40Z</dcterms:created>
  <dcterms:modified xsi:type="dcterms:W3CDTF">2026-01-15T15:24:40Z</dcterms:modified>
</cp:coreProperties>
</file>